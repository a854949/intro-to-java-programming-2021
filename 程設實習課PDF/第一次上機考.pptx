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6" r:id="rId9"/>
    <p:sldId id="267" r:id="rId10"/>
    <p:sldId id="270" r:id="rId11"/>
    <p:sldId id="271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C7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2"/>
    <p:restoredTop sz="94624"/>
  </p:normalViewPr>
  <p:slideViewPr>
    <p:cSldViewPr snapToGrid="0">
      <p:cViewPr varScale="1">
        <p:scale>
          <a:sx n="84" d="100"/>
          <a:sy n="84" d="100"/>
        </p:scale>
        <p:origin x="770" y="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58599ba0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58599ba0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58599ba0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58599ba0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58599ba0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58599ba0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4D0-2ED8-448C-BA93-0A6F7380D924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372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
第二層
第三層
第四層
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E6BA-E1CE-4A4D-A019-C71873AF2C9F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49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
第二層
第三層
第四層
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fld id="{183D705F-C53C-429B-92AE-32A2D735BAF9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17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
第二層
第三層
第四層
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
第二層
第三層
第四層
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369A-CA27-4114-89BB-58E97F13F55A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80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
第二層
第三層
第四層
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
第二層
第三層
第四層
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
第二層
第三層
第四層
第五層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
第二層
第三層
第四層
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5BCCE-85C6-4CDC-AB15-64E702727B3A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895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3D1E-BDDE-40A2-A24D-C72CB5437247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54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0541-A870-49EE-8204-EC4577A7B9E3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641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
第二層
第三層
第四層
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
第二層
第三層
第四層
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B03D-35EE-49F0-A391-9F3635AC1E17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
第二層
第三層
第四層
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5C574-265F-4495-BDCA-599DE62B5FA4}" type="datetime1">
              <a:rPr lang="en-US" altLang="zh-TW" smtClean="0"/>
              <a:t>11/3/2020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2330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
第二層
第三層
第四層
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AD5F-A52E-487D-8DC3-60FAA56EB977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868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
第二層
第三層
第四層
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CFC5-2C6E-471F-A4AA-B18113BBC287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471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442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
第二層
第三層
第四層
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F08F438F-6152-4251-B837-D0E2DC4215DE}" type="datetime1">
              <a:rPr lang="en-US" altLang="zh-TW" smtClean="0"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000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tm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dirty="0">
                <a:solidFill>
                  <a:srgbClr val="000100"/>
                </a:solidFill>
              </a:rPr>
              <a:t>11/0</a:t>
            </a:r>
            <a:r>
              <a:rPr lang="en-US" altLang="zh-TW" sz="4800" dirty="0">
                <a:solidFill>
                  <a:srgbClr val="000100"/>
                </a:solidFill>
              </a:rPr>
              <a:t>6</a:t>
            </a:r>
            <a:endParaRPr sz="4800" dirty="0">
              <a:solidFill>
                <a:srgbClr val="0001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dirty="0">
                <a:solidFill>
                  <a:srgbClr val="000100"/>
                </a:solidFill>
              </a:rPr>
              <a:t>程設實習課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b="1" dirty="0"/>
              <a:t>10/</a:t>
            </a:r>
            <a:r>
              <a:rPr lang="en-US" altLang="zh-TW" b="1" dirty="0"/>
              <a:t>30</a:t>
            </a:r>
            <a:r>
              <a:rPr lang="zh-TW" b="1" dirty="0"/>
              <a:t> </a:t>
            </a:r>
            <a:r>
              <a:rPr lang="zh-TW" altLang="en-US" b="1" dirty="0"/>
              <a:t>小考</a:t>
            </a:r>
            <a:r>
              <a:rPr lang="zh-TW" altLang="zh-TW" b="1" dirty="0"/>
              <a:t>常見錯誤：</a:t>
            </a:r>
            <a:br>
              <a:rPr lang="en-US" altLang="zh-TW" sz="4400" dirty="0">
                <a:solidFill>
                  <a:schemeClr val="dk1"/>
                </a:solidFill>
              </a:rPr>
            </a:b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36995"/>
            <a:ext cx="480166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651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zh-TW" sz="2800" dirty="0">
                <a:solidFill>
                  <a:schemeClr val="dk1"/>
                </a:solidFill>
              </a:rPr>
              <a:t>輸出格式與範本不符</a:t>
            </a:r>
            <a:endParaRPr lang="en-US" altLang="zh-TW" sz="2800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sz="2800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altLang="zh-TW" sz="2800" dirty="0">
                <a:solidFill>
                  <a:schemeClr val="dk1"/>
                </a:solidFill>
              </a:rPr>
              <a:t> </a:t>
            </a:r>
            <a:r>
              <a:rPr lang="zh-TW" sz="2800" dirty="0">
                <a:solidFill>
                  <a:schemeClr val="dk1"/>
                </a:solidFill>
              </a:rPr>
              <a:t>輸出錯誤有誤</a:t>
            </a:r>
            <a:endParaRPr lang="en-US" altLang="zh-TW" sz="2800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zh-TW" altLang="en-US" sz="2800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altLang="zh-TW" sz="2800" dirty="0">
                <a:solidFill>
                  <a:schemeClr val="dk1"/>
                </a:solidFill>
              </a:rPr>
              <a:t> </a:t>
            </a:r>
            <a:r>
              <a:rPr lang="zh-TW" sz="2800" dirty="0">
                <a:solidFill>
                  <a:schemeClr val="dk1"/>
                </a:solidFill>
              </a:rPr>
              <a:t>第一行註解沒打</a:t>
            </a:r>
            <a:endParaRPr lang="en-US" altLang="zh-TW" sz="2800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sz="2800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altLang="zh-TW" sz="2800" dirty="0">
                <a:solidFill>
                  <a:schemeClr val="dk1"/>
                </a:solidFill>
              </a:rPr>
              <a:t> </a:t>
            </a:r>
            <a:r>
              <a:rPr lang="zh-TW" sz="2800" dirty="0">
                <a:solidFill>
                  <a:schemeClr val="dk1"/>
                </a:solidFill>
              </a:rPr>
              <a:t>class或package名稱錯誤</a:t>
            </a:r>
            <a:endParaRPr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8C137B5-10B3-4246-8EAA-BACEA43B33CF}"/>
              </a:ext>
            </a:extLst>
          </p:cNvPr>
          <p:cNvSpPr txBox="1"/>
          <p:nvPr/>
        </p:nvSpPr>
        <p:spPr>
          <a:xfrm>
            <a:off x="4289946" y="1906138"/>
            <a:ext cx="464903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扣分原則</a:t>
            </a:r>
            <a:r>
              <a:rPr lang="en-US" altLang="zh-TW" dirty="0"/>
              <a:t>:</a:t>
            </a:r>
          </a:p>
          <a:p>
            <a:pPr marL="342900" indent="-342900">
              <a:buAutoNum type="alphaLcPeriod"/>
            </a:pPr>
            <a:r>
              <a:rPr lang="en-US" altLang="zh-TW" dirty="0"/>
              <a:t>UTF-8</a:t>
            </a:r>
            <a:r>
              <a:rPr lang="zh-TW" altLang="en-US" dirty="0"/>
              <a:t> 沒改 </a:t>
            </a:r>
            <a:r>
              <a:rPr lang="zh-TW" altLang="zh-TW" sz="1400" dirty="0">
                <a:solidFill>
                  <a:schemeClr val="dk1"/>
                </a:solidFill>
              </a:rPr>
              <a:t>class或package名稱</a:t>
            </a:r>
            <a:r>
              <a:rPr lang="zh-TW" altLang="en-US" sz="1400" dirty="0">
                <a:solidFill>
                  <a:schemeClr val="dk1"/>
                </a:solidFill>
              </a:rPr>
              <a:t> 總分扣</a:t>
            </a:r>
            <a:r>
              <a:rPr lang="en-US" altLang="zh-TW" sz="1400" dirty="0">
                <a:solidFill>
                  <a:schemeClr val="dk1"/>
                </a:solidFill>
              </a:rPr>
              <a:t>10</a:t>
            </a:r>
          </a:p>
          <a:p>
            <a:pPr marL="342900" indent="-342900">
              <a:buFont typeface="Arial"/>
              <a:buAutoNum type="alphaLcPeriod"/>
            </a:pPr>
            <a:r>
              <a:rPr lang="zh-TW" altLang="zh-TW" sz="1400" dirty="0">
                <a:solidFill>
                  <a:schemeClr val="dk1"/>
                </a:solidFill>
              </a:rPr>
              <a:t>輸</a:t>
            </a:r>
            <a:r>
              <a:rPr lang="zh-TW" altLang="en-US" sz="1400" dirty="0">
                <a:solidFill>
                  <a:schemeClr val="dk1"/>
                </a:solidFill>
              </a:rPr>
              <a:t>入輸</a:t>
            </a:r>
            <a:r>
              <a:rPr lang="zh-TW" altLang="zh-TW" sz="1400" dirty="0">
                <a:solidFill>
                  <a:schemeClr val="dk1"/>
                </a:solidFill>
              </a:rPr>
              <a:t>出格式與範本不符</a:t>
            </a:r>
            <a:r>
              <a:rPr lang="en-US" altLang="zh-TW" sz="1400" dirty="0">
                <a:solidFill>
                  <a:schemeClr val="dk1"/>
                </a:solidFill>
              </a:rPr>
              <a:t>(</a:t>
            </a:r>
            <a:r>
              <a:rPr lang="zh-TW" altLang="en-US" sz="1400" dirty="0">
                <a:solidFill>
                  <a:schemeClr val="dk1"/>
                </a:solidFill>
              </a:rPr>
              <a:t>前提答案要對</a:t>
            </a:r>
            <a:r>
              <a:rPr lang="en-US" altLang="zh-TW" sz="1400" dirty="0">
                <a:solidFill>
                  <a:schemeClr val="dk1"/>
                </a:solidFill>
              </a:rPr>
              <a:t>)</a:t>
            </a:r>
            <a:r>
              <a:rPr lang="zh-TW" altLang="en-US" sz="1400" dirty="0">
                <a:solidFill>
                  <a:schemeClr val="dk1"/>
                </a:solidFill>
              </a:rPr>
              <a:t> 該題扣五分</a:t>
            </a:r>
            <a:endParaRPr lang="en-US" altLang="zh-TW" sz="1400" dirty="0">
              <a:solidFill>
                <a:schemeClr val="dk1"/>
              </a:solidFill>
            </a:endParaRPr>
          </a:p>
          <a:p>
            <a:pPr marL="342900" indent="-342900">
              <a:buFont typeface="Arial"/>
              <a:buAutoNum type="alphaLcPeriod"/>
            </a:pPr>
            <a:r>
              <a:rPr lang="zh-TW" altLang="en-US" sz="1400" dirty="0">
                <a:solidFill>
                  <a:schemeClr val="dk1"/>
                </a:solidFill>
              </a:rPr>
              <a:t>沒取小數點至第一位 扣該題</a:t>
            </a:r>
            <a:r>
              <a:rPr lang="en-US" altLang="zh-TW" sz="1400" dirty="0">
                <a:solidFill>
                  <a:schemeClr val="dk1"/>
                </a:solidFill>
              </a:rPr>
              <a:t>10</a:t>
            </a:r>
            <a:r>
              <a:rPr lang="zh-TW" altLang="en-US" sz="1400" dirty="0">
                <a:solidFill>
                  <a:schemeClr val="dk1"/>
                </a:solidFill>
              </a:rPr>
              <a:t>分</a:t>
            </a:r>
            <a:endParaRPr lang="en-US" altLang="zh-TW" sz="1400" dirty="0">
              <a:solidFill>
                <a:schemeClr val="dk1"/>
              </a:solidFill>
            </a:endParaRPr>
          </a:p>
          <a:p>
            <a:pPr marL="342900" indent="-342900">
              <a:buFont typeface="Arial"/>
              <a:buAutoNum type="alphaLcPeriod"/>
            </a:pPr>
            <a:r>
              <a:rPr lang="zh-TW" altLang="en-US" dirty="0">
                <a:solidFill>
                  <a:schemeClr val="dk1"/>
                </a:solidFill>
              </a:rPr>
              <a:t>無法執行該題</a:t>
            </a:r>
            <a:r>
              <a:rPr lang="en-US" altLang="zh-TW" dirty="0">
                <a:solidFill>
                  <a:schemeClr val="dk1"/>
                </a:solidFill>
              </a:rPr>
              <a:t>0</a:t>
            </a:r>
            <a:r>
              <a:rPr lang="zh-TW" altLang="en-US" dirty="0">
                <a:solidFill>
                  <a:schemeClr val="dk1"/>
                </a:solidFill>
              </a:rPr>
              <a:t>分</a:t>
            </a:r>
            <a:endParaRPr lang="en-US" altLang="zh-TW" dirty="0">
              <a:solidFill>
                <a:schemeClr val="dk1"/>
              </a:solidFill>
            </a:endParaRPr>
          </a:p>
          <a:p>
            <a:pPr marL="342900" indent="-342900">
              <a:buFont typeface="Arial"/>
              <a:buAutoNum type="alphaLcPeriod"/>
            </a:pPr>
            <a:r>
              <a:rPr lang="zh-TW" altLang="en-US" sz="1400" dirty="0">
                <a:solidFill>
                  <a:schemeClr val="dk1"/>
                </a:solidFill>
              </a:rPr>
              <a:t>用其他範本施測時錯誤，扣該題</a:t>
            </a:r>
            <a:r>
              <a:rPr lang="en-US" altLang="zh-TW" sz="1400" dirty="0">
                <a:solidFill>
                  <a:schemeClr val="dk1"/>
                </a:solidFill>
              </a:rPr>
              <a:t>10</a:t>
            </a:r>
            <a:r>
              <a:rPr lang="zh-TW" altLang="en-US" sz="1400" dirty="0">
                <a:solidFill>
                  <a:schemeClr val="dk1"/>
                </a:solidFill>
              </a:rPr>
              <a:t>分</a:t>
            </a:r>
            <a:endParaRPr lang="en-US" altLang="zh-TW" sz="1400" dirty="0">
              <a:solidFill>
                <a:schemeClr val="dk1"/>
              </a:solidFill>
            </a:endParaRPr>
          </a:p>
          <a:p>
            <a:pPr marL="342900" indent="-342900">
              <a:buAutoNum type="alphaLcPeriod"/>
            </a:pP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146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3200" dirty="0"/>
              <a:t>輸出格式與範本不符</a:t>
            </a:r>
            <a:endParaRPr sz="3200" dirty="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46838"/>
            <a:ext cx="4434899" cy="13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2" y="2464450"/>
            <a:ext cx="4434900" cy="2591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5687" y="1167875"/>
            <a:ext cx="2097948" cy="9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3300" y="2567138"/>
            <a:ext cx="1819000" cy="238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3350" y="2539175"/>
            <a:ext cx="2102600" cy="9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7798400" y="2214100"/>
            <a:ext cx="14409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輸入格式錯誤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02702" y="1167875"/>
            <a:ext cx="2083648" cy="71191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7329200" y="870225"/>
            <a:ext cx="19101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輸出格式與範本不符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823350" y="870225"/>
            <a:ext cx="14409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正確版本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1289BB7-81FE-4FE9-AFE2-0C3310AF5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56" y="0"/>
            <a:ext cx="8612956" cy="5143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FFC0081-156F-4828-85B6-CC4B6A3EE88D}"/>
              </a:ext>
            </a:extLst>
          </p:cNvPr>
          <p:cNvSpPr/>
          <p:nvPr/>
        </p:nvSpPr>
        <p:spPr>
          <a:xfrm>
            <a:off x="1555474" y="4472609"/>
            <a:ext cx="2464904" cy="2782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15FF6982-7953-2348-AC0E-87CD936E1ACC}"/>
              </a:ext>
            </a:extLst>
          </p:cNvPr>
          <p:cNvSpPr txBox="1"/>
          <p:nvPr/>
        </p:nvSpPr>
        <p:spPr>
          <a:xfrm>
            <a:off x="389834" y="4257353"/>
            <a:ext cx="69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dirty="0"/>
              <a:t>輸出：</a:t>
            </a:r>
            <a:endParaRPr kumimoji="1" lang="zh-TW" altLang="en-US" sz="1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68D755C-389C-490D-A4C4-70C8E713C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63" y="4257353"/>
            <a:ext cx="1676400" cy="93345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C3B71D25-1DE8-4B48-8A59-94BB6D755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98" y="173935"/>
            <a:ext cx="8906856" cy="383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9C9664EF-0D74-4781-B4B4-646A93B50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854C0CC2-F056-47AD-A361-F33F5EE97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CD560C9F-7A8F-4FBA-BD3A-EB75B62E4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ln w="22225">
            <a:solidFill>
              <a:srgbClr val="FEB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14BC15A4-92FB-43E5-9DAE-ED0B53FAF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49" y="1092265"/>
            <a:ext cx="7933308" cy="295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75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A8019D2-0066-4905-8A1B-61CE1ACD73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39" t="15303" r="14227" b="37778"/>
          <a:stretch/>
        </p:blipFill>
        <p:spPr>
          <a:xfrm>
            <a:off x="268462" y="711724"/>
            <a:ext cx="8974724" cy="387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3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7260" y="170374"/>
            <a:ext cx="828956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 startAt="3"/>
            </a:pP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輸入一串英文字母</a:t>
            </a:r>
            <a:r>
              <a:rPr lang="en-US" altLang="zh-TW" sz="2200" kern="100" dirty="0">
                <a:latin typeface="+mn-ea"/>
                <a:ea typeface="+mn-ea"/>
                <a:cs typeface="Courier New" panose="02070309020205020404" pitchFamily="49" charset="0"/>
              </a:rPr>
              <a:t>(</a:t>
            </a: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大小寫均可</a:t>
            </a:r>
            <a:r>
              <a:rPr lang="en-US" altLang="zh-TW" sz="2200" kern="100" dirty="0">
                <a:latin typeface="+mn-ea"/>
                <a:ea typeface="+mn-ea"/>
                <a:cs typeface="Courier New" panose="02070309020205020404" pitchFamily="49" charset="0"/>
              </a:rPr>
              <a:t>)</a:t>
            </a: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，隨機指定字串中的字，再輸入所要猜的一個英文字母。</a:t>
            </a:r>
            <a:endParaRPr lang="en-US" altLang="zh-TW" sz="2200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LcPeriod"/>
            </a:pP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假如猜對了則輸出「恭喜猜對</a:t>
            </a:r>
            <a:r>
              <a:rPr lang="en-US" altLang="zh-TW" sz="2200" kern="100" dirty="0">
                <a:latin typeface="+mn-ea"/>
                <a:ea typeface="+mn-ea"/>
                <a:cs typeface="Courier New" panose="02070309020205020404" pitchFamily="49" charset="0"/>
              </a:rPr>
              <a:t>!</a:t>
            </a: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」</a:t>
            </a:r>
            <a:r>
              <a:rPr lang="en-US" altLang="zh-TW" sz="2200" kern="100" dirty="0">
                <a:latin typeface="+mn-ea"/>
                <a:ea typeface="+mn-ea"/>
                <a:cs typeface="Courier New" panose="02070309020205020404" pitchFamily="49" charset="0"/>
              </a:rPr>
              <a:t>;</a:t>
            </a:r>
          </a:p>
          <a:p>
            <a:pPr marL="457200" lvl="0" indent="-457200">
              <a:buFont typeface="+mj-lt"/>
              <a:buAutoNum type="alphaLcPeriod"/>
            </a:pP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假如輸入的是</a:t>
            </a:r>
            <a:r>
              <a:rPr lang="zh-TW" altLang="zh-TW" sz="2200" kern="1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大寫</a:t>
            </a: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字母則輸出</a:t>
            </a:r>
            <a:r>
              <a:rPr lang="zh-TW" altLang="zh-TW" sz="2200" kern="1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大寫字母減隨機字母</a:t>
            </a: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en-US" altLang="zh-TW" sz="2200" kern="100" dirty="0">
                <a:latin typeface="+mn-ea"/>
                <a:ea typeface="+mn-ea"/>
                <a:cs typeface="Courier New" panose="02070309020205020404" pitchFamily="49" charset="0"/>
              </a:rPr>
              <a:t>ASCII Code</a:t>
            </a: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值</a:t>
            </a:r>
            <a:r>
              <a:rPr lang="en-US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;</a:t>
            </a:r>
          </a:p>
          <a:p>
            <a:pPr marL="457200" lvl="0" indent="-457200">
              <a:buFont typeface="+mj-lt"/>
              <a:buAutoNum type="alphaLcPeriod"/>
            </a:pP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反之輸入的是</a:t>
            </a:r>
            <a:r>
              <a:rPr lang="zh-TW" altLang="zh-TW" sz="2200" kern="1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小寫</a:t>
            </a: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字母則輸出</a:t>
            </a:r>
            <a:r>
              <a:rPr lang="zh-TW" altLang="zh-TW" sz="2200" kern="1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隨機字母減小寫字母</a:t>
            </a: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en-US" altLang="zh-TW" sz="2200" kern="100" dirty="0">
                <a:latin typeface="+mn-ea"/>
                <a:ea typeface="+mn-ea"/>
                <a:cs typeface="Courier New" panose="02070309020205020404" pitchFamily="49" charset="0"/>
              </a:rPr>
              <a:t>ASCII Code</a:t>
            </a:r>
            <a:r>
              <a:rPr lang="zh-TW" altLang="zh-TW" sz="2200" kern="100" dirty="0">
                <a:latin typeface="+mn-ea"/>
                <a:ea typeface="+mn-ea"/>
                <a:cs typeface="Times New Roman" panose="02020603050405020304" pitchFamily="18" charset="0"/>
              </a:rPr>
              <a:t>值。</a:t>
            </a:r>
            <a:endParaRPr lang="zh-TW" altLang="zh-TW" sz="2200" kern="100" dirty="0">
              <a:latin typeface="+mn-ea"/>
              <a:ea typeface="+mn-ea"/>
              <a:cs typeface="Courier New" panose="02070309020205020404" pitchFamily="49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67" y="2512574"/>
            <a:ext cx="6790438" cy="232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16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7" y="417226"/>
            <a:ext cx="8822238" cy="422223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5109029" y="417226"/>
            <a:ext cx="37842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1. </a:t>
            </a:r>
            <a:r>
              <a:rPr lang="zh-TW" altLang="en-US" dirty="0">
                <a:solidFill>
                  <a:srgbClr val="C00000"/>
                </a:solidFill>
              </a:rPr>
              <a:t>設定</a:t>
            </a:r>
            <a:r>
              <a:rPr lang="en-US" altLang="zh-TW" dirty="0">
                <a:solidFill>
                  <a:srgbClr val="C00000"/>
                </a:solidFill>
              </a:rPr>
              <a:t>X~Y</a:t>
            </a:r>
            <a:r>
              <a:rPr lang="zh-TW" altLang="en-US" dirty="0">
                <a:solidFill>
                  <a:srgbClr val="C00000"/>
                </a:solidFill>
              </a:rPr>
              <a:t>的範圍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en-US" altLang="zh-TW" dirty="0">
                <a:solidFill>
                  <a:srgbClr val="C00000"/>
                </a:solidFill>
              </a:rPr>
              <a:t>    </a:t>
            </a:r>
            <a:r>
              <a:rPr lang="en-US" altLang="zh-TW" dirty="0" err="1">
                <a:solidFill>
                  <a:srgbClr val="C00000"/>
                </a:solidFill>
              </a:rPr>
              <a:t>int</a:t>
            </a:r>
            <a:r>
              <a:rPr lang="en-US" altLang="zh-TW" dirty="0">
                <a:solidFill>
                  <a:srgbClr val="C00000"/>
                </a:solidFill>
              </a:rPr>
              <a:t> a=(</a:t>
            </a:r>
            <a:r>
              <a:rPr lang="en-US" altLang="zh-TW" dirty="0" err="1">
                <a:solidFill>
                  <a:srgbClr val="C00000"/>
                </a:solidFill>
              </a:rPr>
              <a:t>int</a:t>
            </a:r>
            <a:r>
              <a:rPr lang="en-US" altLang="zh-TW" dirty="0">
                <a:solidFill>
                  <a:srgbClr val="C00000"/>
                </a:solidFill>
              </a:rPr>
              <a:t>)(</a:t>
            </a:r>
            <a:r>
              <a:rPr lang="en-US" altLang="zh-TW" dirty="0" err="1">
                <a:solidFill>
                  <a:srgbClr val="C00000"/>
                </a:solidFill>
              </a:rPr>
              <a:t>Math.random</a:t>
            </a:r>
            <a:r>
              <a:rPr lang="en-US" altLang="zh-TW" dirty="0">
                <a:solidFill>
                  <a:srgbClr val="C00000"/>
                </a:solidFill>
              </a:rPr>
              <a:t>()*(Y-X+1))+X;</a:t>
            </a:r>
          </a:p>
          <a:p>
            <a:endParaRPr lang="en-US" altLang="zh-TW" dirty="0">
              <a:solidFill>
                <a:srgbClr val="C00000"/>
              </a:solidFill>
            </a:endParaRPr>
          </a:p>
          <a:p>
            <a:r>
              <a:rPr lang="en-US" altLang="zh-TW" dirty="0">
                <a:solidFill>
                  <a:srgbClr val="C00000"/>
                </a:solidFill>
              </a:rPr>
              <a:t>2. ASCII SODE: A~Z (65~90)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                           </a:t>
            </a:r>
            <a:r>
              <a:rPr lang="en-US" altLang="zh-TW" dirty="0" err="1">
                <a:solidFill>
                  <a:srgbClr val="C00000"/>
                </a:solidFill>
              </a:rPr>
              <a:t>a~z</a:t>
            </a:r>
            <a:r>
              <a:rPr lang="en-US" altLang="zh-TW" dirty="0">
                <a:solidFill>
                  <a:srgbClr val="C00000"/>
                </a:solidFill>
              </a:rPr>
              <a:t>(97~122)</a:t>
            </a:r>
            <a:endParaRPr lang="zh-TW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22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桌 的圖片&#10;&#10;自動產生的描述">
            <a:extLst>
              <a:ext uri="{FF2B5EF4-FFF2-40B4-BE49-F238E27FC236}">
                <a16:creationId xmlns:a16="http://schemas.microsoft.com/office/drawing/2014/main" id="{DE9FA429-95FD-4131-A9EB-F9E5314D1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76" y="1060170"/>
            <a:ext cx="8500847" cy="273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57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636D242-A416-494A-978B-DC014FC370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28" t="13532" r="40398" b="36230"/>
          <a:stretch/>
        </p:blipFill>
        <p:spPr>
          <a:xfrm>
            <a:off x="145576" y="737384"/>
            <a:ext cx="4426424" cy="3546132"/>
          </a:xfrm>
          <a:prstGeom prst="rect">
            <a:avLst/>
          </a:prstGeom>
        </p:spPr>
      </p:pic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03FD4CC2-475E-4D84-A8E6-86E85FEE4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586" y="793996"/>
            <a:ext cx="4355207" cy="30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295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刻字型">
  <a:themeElements>
    <a:clrScheme name="木刻字型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刻字型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刻字型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{BD69BBF6-425C-8C4D-8498-54696B804177}tf10001070</Template>
  <TotalTime>78</TotalTime>
  <Words>246</Words>
  <Application>Microsoft Office PowerPoint</Application>
  <PresentationFormat>如螢幕大小 (16:9)</PresentationFormat>
  <Paragraphs>30</Paragraphs>
  <Slides>11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標楷體</vt:lpstr>
      <vt:lpstr>Arial</vt:lpstr>
      <vt:lpstr>Calibri</vt:lpstr>
      <vt:lpstr>Rockwell</vt:lpstr>
      <vt:lpstr>Rockwell Condensed</vt:lpstr>
      <vt:lpstr>Rockwell Extra Bold</vt:lpstr>
      <vt:lpstr>Wingdings</vt:lpstr>
      <vt:lpstr>木刻字型</vt:lpstr>
      <vt:lpstr>11/06 程設實習課</vt:lpstr>
      <vt:lpstr>10/30 小考常見錯誤： </vt:lpstr>
      <vt:lpstr>輸出格式與範本不符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11/01 程設實習課</dc:title>
  <cp:lastModifiedBy>黃子豪</cp:lastModifiedBy>
  <cp:revision>14</cp:revision>
  <dcterms:modified xsi:type="dcterms:W3CDTF">2020-11-03T05:24:30Z</dcterms:modified>
</cp:coreProperties>
</file>